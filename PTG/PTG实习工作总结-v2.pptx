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tif" ContentType="image/tif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321" r:id="rId3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9"/>
    <p:sldId id="331" r:id="rId8"/>
    <p:sldId id="332" r:id="rId7"/>
    <p:sldId id="333" r:id="rId6"/>
    <p:sldId id="334" r:id="rId5"/>
    <p:sldId id="335" r:id="rId4"/>
    <p:sldId id="336" r:id="rId24"/>
    <p:sldId id="337" r:id="rId25"/>
    <p:sldId id="338" r:id="rId26"/>
    <p:sldId id="339" r:id="rId27"/>
    <p:sldId id="273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4E0B"/>
    <a:srgbClr val="FF5817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2"/>
    <p:restoredTop sz="94647"/>
  </p:normalViewPr>
  <p:slideViewPr>
    <p:cSldViewPr snapToGrid="0" snapToObjects="1">
      <p:cViewPr varScale="1">
        <p:scale>
          <a:sx n="75" d="100"/>
          <a:sy n="75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tif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yexwnokfdnphfkuh.jpg" descr="yexwnokfdnphfkuh.jpg"/>
          <p:cNvPicPr>
            <a:picLocks noChangeAspect="1"/>
          </p:cNvPicPr>
          <p:nvPr/>
        </p:nvPicPr>
        <p:blipFill>
          <a:blip r:embed="rId2"/>
          <a:srcRect l="43765" r="1684"/>
          <a:stretch>
            <a:fillRect/>
          </a:stretch>
        </p:blipFill>
        <p:spPr>
          <a:xfrm>
            <a:off x="-6169" y="0"/>
            <a:ext cx="7481889" cy="13716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7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6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66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86589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成组"/>
          <p:cNvGrpSpPr/>
          <p:nvPr/>
        </p:nvGrpSpPr>
        <p:grpSpPr>
          <a:xfrm>
            <a:off x="628871" y="640699"/>
            <a:ext cx="5079052" cy="487415"/>
            <a:chOff x="0" y="0"/>
            <a:chExt cx="5079051" cy="487413"/>
          </a:xfrm>
        </p:grpSpPr>
        <p:pic>
          <p:nvPicPr>
            <p:cNvPr id="49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51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3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侧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/>
          <p:nvPr/>
        </p:nvSpPr>
        <p:spPr>
          <a:xfrm flipH="1">
            <a:off x="-67992" y="-63457"/>
            <a:ext cx="7507546" cy="1384291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90713">
              <a:def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grpSp>
        <p:nvGrpSpPr>
          <p:cNvPr id="80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77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7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1" name="New Product Release"/>
          <p:cNvSpPr txBox="1"/>
          <p:nvPr/>
        </p:nvSpPr>
        <p:spPr>
          <a:xfrm>
            <a:off x="21544739" y="419100"/>
            <a:ext cx="262498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117" name="KV Summit(1)-底纹.psd" descr="KV Summit(1)-底纹.psd"/>
          <p:cNvPicPr>
            <a:picLocks noChangeAspect="1"/>
          </p:cNvPicPr>
          <p:nvPr/>
        </p:nvPicPr>
        <p:blipFill>
          <a:blip r:embed="rId2">
            <a:alphaModFix amt="25328"/>
          </a:blip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1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18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1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0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34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31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32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18181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47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44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背景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像" descr="图像"/>
          <p:cNvPicPr>
            <a:picLocks noChangeAspect="1"/>
          </p:cNvPicPr>
          <p:nvPr/>
        </p:nvPicPr>
        <p:blipFill>
          <a:blip r:embed="rId2">
            <a:alphaModFix amt="30000"/>
          </a:blip>
          <a:srcRect t="4919" b="8801"/>
          <a:stretch>
            <a:fillRect/>
          </a:stretch>
        </p:blipFill>
        <p:spPr>
          <a:xfrm>
            <a:off x="-69104" y="-194433"/>
            <a:ext cx="24522207" cy="141048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170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1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72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页基本 拷贝"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82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83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8851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2" name="图像" descr="图像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4" name="图像" descr="图像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3653366" y="1958422"/>
            <a:ext cx="19507201" cy="249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458252"/>
            <a:ext cx="9550401" cy="8761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9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2" r:id="rId2"/>
    <p:sldLayoutId id="2147483654" r:id="rId3"/>
    <p:sldLayoutId id="2147483657" r:id="rId4"/>
    <p:sldLayoutId id="2147483658" r:id="rId5"/>
    <p:sldLayoutId id="2147483659" r:id="rId6"/>
    <p:sldLayoutId id="2147483661" r:id="rId7"/>
    <p:sldLayoutId id="2147483662" r:id="rId8"/>
    <p:sldLayoutId id="2147483663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127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190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254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317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381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444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508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571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这里是标题平头哥PPT模版"/>
          <p:cNvSpPr txBox="1"/>
          <p:nvPr/>
        </p:nvSpPr>
        <p:spPr>
          <a:xfrm>
            <a:off x="3100468" y="4956136"/>
            <a:ext cx="18183064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74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en-US" dirty="0"/>
              <a:t>红区大模型推理平台建设与优化</a:t>
            </a:r>
            <a:endParaRPr dirty="0"/>
          </a:p>
        </p:txBody>
      </p:sp>
      <p:sp>
        <p:nvSpPr>
          <p:cNvPr id="197" name="演讲人姓名"/>
          <p:cNvSpPr txBox="1"/>
          <p:nvPr/>
        </p:nvSpPr>
        <p:spPr>
          <a:xfrm>
            <a:off x="8410540" y="10045734"/>
            <a:ext cx="7562917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55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闫一慧</a:t>
            </a:r>
          </a:p>
        </p:txBody>
      </p:sp>
      <p:sp>
        <p:nvSpPr>
          <p:cNvPr id="198" name="职位名称平头哥市场高级专家"/>
          <p:cNvSpPr txBox="1"/>
          <p:nvPr/>
        </p:nvSpPr>
        <p:spPr>
          <a:xfrm>
            <a:off x="6657482" y="11197796"/>
            <a:ext cx="11069036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LLM 推理平台实习生 · 阿里巴巴平头哥半导体</a:t>
            </a:r>
          </a:p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2026 / 09</a:t>
            </a:r>
          </a:p>
        </p:txBody>
      </p:sp>
      <p:sp>
        <p:nvSpPr>
          <p:cNvPr id="199" name="New Future on Cloud"/>
          <p:cNvSpPr txBox="1"/>
          <p:nvPr/>
        </p:nvSpPr>
        <p:spPr>
          <a:xfrm>
            <a:off x="6391342" y="6253522"/>
            <a:ext cx="11601316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defRPr sz="40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模型部署 · PD 分离调优 · 监控链路 · Agent 工具链</a:t>
            </a:r>
          </a:p>
        </p:txBody>
      </p:sp>
      <p:grpSp>
        <p:nvGrpSpPr>
          <p:cNvPr id="203" name="成组"/>
          <p:cNvGrpSpPr/>
          <p:nvPr/>
        </p:nvGrpSpPr>
        <p:grpSpPr>
          <a:xfrm>
            <a:off x="853287" y="553848"/>
            <a:ext cx="4704399" cy="451463"/>
            <a:chOff x="0" y="0"/>
            <a:chExt cx="4704397" cy="451462"/>
          </a:xfrm>
        </p:grpSpPr>
        <p:pic>
          <p:nvPicPr>
            <p:cNvPr id="200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056"/>
              <a:ext cx="2553489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1" name="线条"/>
            <p:cNvSpPr/>
            <p:nvPr/>
          </p:nvSpPr>
          <p:spPr>
            <a:xfrm flipV="1">
              <a:off x="2731308" y="-1"/>
              <a:ext cx="3" cy="45146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202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0030" y="4056"/>
              <a:ext cx="1664368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s">
            <a:extLst>
              <a:ext uri="{FF2B5EF4-FFF2-40B4-BE49-F238E27FC236}">
                <a16:creationId xmlns:a16="http://schemas.microsoft.com/office/drawing/2014/main" id="{5FDE7978-F0E2-7036-C826-0EDE813F6C2D}"/>
              </a:ext>
            </a:extLst>
          </p:cNvPr>
          <p:cNvSpPr txBox="1"/>
          <p:nvPr/>
        </p:nvSpPr>
        <p:spPr>
          <a:xfrm>
            <a:off x="1522058" y="4953227"/>
            <a:ext cx="4678820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Contents</a:t>
            </a:r>
          </a:p>
        </p:txBody>
      </p:sp>
      <p:sp>
        <p:nvSpPr>
          <p:cNvPr id="3" name="目录">
            <a:extLst>
              <a:ext uri="{FF2B5EF4-FFF2-40B4-BE49-F238E27FC236}">
                <a16:creationId xmlns:a16="http://schemas.microsoft.com/office/drawing/2014/main" id="{2B8C771B-E661-2FAE-BD40-AF82A0A99F85}"/>
              </a:ext>
            </a:extLst>
          </p:cNvPr>
          <p:cNvSpPr txBox="1"/>
          <p:nvPr/>
        </p:nvSpPr>
        <p:spPr>
          <a:xfrm>
            <a:off x="1484456" y="6219473"/>
            <a:ext cx="4111282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目录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824F74E9-6D7E-F16E-BDDF-7817135C8BFE}"/>
              </a:ext>
            </a:extLst>
          </p:cNvPr>
          <p:cNvSpPr txBox="1"/>
          <p:nvPr/>
        </p:nvSpPr>
        <p:spPr>
          <a:xfrm>
            <a:off x="9885636" y="3376966"/>
            <a:ext cx="1056613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01</a:t>
            </a:r>
          </a:p>
        </p:txBody>
      </p:sp>
      <p:sp>
        <p:nvSpPr>
          <p:cNvPr id="5" name="IT基础设施云化">
            <a:extLst>
              <a:ext uri="{FF2B5EF4-FFF2-40B4-BE49-F238E27FC236}">
                <a16:creationId xmlns:a16="http://schemas.microsoft.com/office/drawing/2014/main" id="{417A22C2-AADD-2157-FFDD-3E1068665E11}"/>
              </a:ext>
            </a:extLst>
          </p:cNvPr>
          <p:cNvSpPr txBox="1"/>
          <p:nvPr/>
        </p:nvSpPr>
        <p:spPr>
          <a:xfrm>
            <a:off x="11057483" y="3360168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>
                <a:latin typeface="-apple-system"/>
              </a:rPr>
              <a:t>个人介绍</a:t>
            </a:r>
            <a:endParaRPr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B8D7B28B-F9B9-CF65-DEFF-198D8C820012}"/>
              </a:ext>
            </a:extLst>
          </p:cNvPr>
          <p:cNvSpPr txBox="1"/>
          <p:nvPr/>
        </p:nvSpPr>
        <p:spPr>
          <a:xfrm>
            <a:off x="9885636" y="5490143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02</a:t>
            </a:r>
          </a:p>
        </p:txBody>
      </p:sp>
      <p:sp>
        <p:nvSpPr>
          <p:cNvPr id="7" name="IT基础设施云化">
            <a:extLst>
              <a:ext uri="{FF2B5EF4-FFF2-40B4-BE49-F238E27FC236}">
                <a16:creationId xmlns:a16="http://schemas.microsoft.com/office/drawing/2014/main" id="{E77E8745-D86F-A2F6-0EC3-5EF0E97EB850}"/>
              </a:ext>
            </a:extLst>
          </p:cNvPr>
          <p:cNvSpPr txBox="1"/>
          <p:nvPr/>
        </p:nvSpPr>
        <p:spPr>
          <a:xfrm>
            <a:off x="11057480" y="5498745"/>
            <a:ext cx="4206240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CN" dirty="0">
                <a:latin typeface="-apple-system"/>
              </a:rPr>
              <a:t>实习工作总结</a:t>
            </a:r>
            <a:endParaRPr lang="zh-CN" altLang="en-US" dirty="0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DC513043-C248-8B2E-98C8-0DF99C2B56AC}"/>
              </a:ext>
            </a:extLst>
          </p:cNvPr>
          <p:cNvSpPr txBox="1"/>
          <p:nvPr/>
        </p:nvSpPr>
        <p:spPr>
          <a:xfrm>
            <a:off x="9885636" y="7765644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9" name="IT基础设施云化">
            <a:extLst>
              <a:ext uri="{FF2B5EF4-FFF2-40B4-BE49-F238E27FC236}">
                <a16:creationId xmlns:a16="http://schemas.microsoft.com/office/drawing/2014/main" id="{C0009461-E5CC-3ADF-683F-AC9B0A80EED8}"/>
              </a:ext>
            </a:extLst>
          </p:cNvPr>
          <p:cNvSpPr txBox="1"/>
          <p:nvPr/>
        </p:nvSpPr>
        <p:spPr>
          <a:xfrm>
            <a:off x="11057480" y="7774247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/>
              <a:t>未来规划</a:t>
            </a:r>
          </a:p>
        </p:txBody>
      </p:sp>
    </p:spTree>
    <p:extLst>
      <p:ext uri="{BB962C8B-B14F-4D97-AF65-F5344CB8AC3E}">
        <p14:creationId xmlns:p14="http://schemas.microsoft.com/office/powerpoint/2010/main" val="37205861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KV Summit(1)-底纹.psd" descr="KV Summit(1)-底纹.ps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谢谢观赏"/>
          <p:cNvSpPr txBox="1"/>
          <p:nvPr/>
        </p:nvSpPr>
        <p:spPr>
          <a:xfrm>
            <a:off x="1392108" y="4129887"/>
            <a:ext cx="8011732" cy="2184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 defTabSz="821690">
              <a:defRPr sz="13000" spc="2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谢谢</a:t>
            </a:r>
          </a:p>
        </p:txBody>
      </p:sp>
      <p:sp>
        <p:nvSpPr>
          <p:cNvPr id="411" name="THANKS FOR YOUR ATTENTION"/>
          <p:cNvSpPr txBox="1"/>
          <p:nvPr/>
        </p:nvSpPr>
        <p:spPr>
          <a:xfrm>
            <a:off x="1498806" y="6218832"/>
            <a:ext cx="11601315" cy="660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l" defTabSz="457200">
              <a:defRPr sz="40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THANK YOU</a:t>
            </a:r>
          </a:p>
        </p:txBody>
      </p:sp>
      <p:grpSp>
        <p:nvGrpSpPr>
          <p:cNvPr id="417" name="成组"/>
          <p:cNvGrpSpPr/>
          <p:nvPr/>
        </p:nvGrpSpPr>
        <p:grpSpPr>
          <a:xfrm>
            <a:off x="1162031" y="11227910"/>
            <a:ext cx="6889081" cy="661112"/>
            <a:chOff x="0" y="0"/>
            <a:chExt cx="6889080" cy="661110"/>
          </a:xfrm>
        </p:grpSpPr>
        <p:sp>
          <p:nvSpPr>
            <p:cNvPr id="412" name="线条"/>
            <p:cNvSpPr/>
            <p:nvPr/>
          </p:nvSpPr>
          <p:spPr>
            <a:xfrm flipV="1">
              <a:off x="3999705" y="-1"/>
              <a:ext cx="2" cy="661111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grpSp>
          <p:nvGrpSpPr>
            <p:cNvPr id="416" name="成组"/>
            <p:cNvGrpSpPr/>
            <p:nvPr/>
          </p:nvGrpSpPr>
          <p:grpSpPr>
            <a:xfrm>
              <a:off x="-1" y="0"/>
              <a:ext cx="6889081" cy="661111"/>
              <a:chOff x="0" y="0"/>
              <a:chExt cx="6889080" cy="661109"/>
            </a:xfrm>
          </p:grpSpPr>
          <p:pic>
            <p:nvPicPr>
              <p:cNvPr id="413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942"/>
                <a:ext cx="3739305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sp>
            <p:nvSpPr>
              <p:cNvPr id="414" name="线条"/>
              <p:cNvSpPr/>
              <p:nvPr/>
            </p:nvSpPr>
            <p:spPr>
              <a:xfrm flipV="1">
                <a:off x="3999707" y="0"/>
                <a:ext cx="2" cy="66111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/>
              </a:p>
            </p:txBody>
          </p:sp>
          <p:pic>
            <p:nvPicPr>
              <p:cNvPr id="415" name="图像" descr="图像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1797" y="5942"/>
                <a:ext cx="2437284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</p:grpSp>
      </p:grpSp>
      <p:sp>
        <p:nvSpPr>
          <p:cNvPr id="418" name="New Product Release"/>
          <p:cNvSpPr txBox="1"/>
          <p:nvPr/>
        </p:nvSpPr>
        <p:spPr>
          <a:xfrm>
            <a:off x="21544739" y="419100"/>
            <a:ext cx="2624987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1690">
              <a:lnSpc>
                <a:spcPct val="120000"/>
              </a:lnSpc>
              <a:defRPr sz="2000">
                <a:solidFill>
                  <a:srgbClr val="A6AAA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419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E6636BC20180234D78A0072836F0BE2032B9B20C101A6B00A7D98F3EB10C2B7E2B41B138F16DDB0A22492308C8468DEB6F09218AB1D01B111BBFC20D702E26D324F262AD812666D7E4D42E776E524B9486B5EC517C6806C2A80E41915072DC78D9A62D910E3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672084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个人介绍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183879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4754880"/>
            <a:ext cx="1371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个人介绍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岗位职责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技术栈与工具链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个人介绍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01</a:t>
            </a:r>
          </a:p>
        </p:txBody>
      </p:sp>
      <p:pic>
        <p:nvPicPr>
          <p:cNvPr id="6" name="Picture 5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3291840"/>
            <a:ext cx="6309360" cy="6309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17320" y="10012680"/>
            <a:ext cx="10497312" cy="26517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教育背景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华东师范大学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　软件工程 硕士 · 2024.09 — 2027.06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西安电子科技大学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　软件工程 学士 · 2020.06 — 2024.09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63272" y="3291840"/>
            <a:ext cx="10497312" cy="48463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岗位职责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负责 DeepSeek-V4-Flash 在自研 PPU 芯片上的 PD 分离部署、DGD 部署形态与参数调优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负责 Dynamo frontend 监控链路搭建与看板适配、Warmup 方案的设计与统一落地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负责红区 Agent 工具链：Opencode 上报插件与链路、DSH 离线包与自动值守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63272" y="8412480"/>
            <a:ext cx="10497312" cy="42519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技术栈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推理引擎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SGLang · vLLM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分布式传输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Mooncake · RDMA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云原生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Kubernetes · ArgoCD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可观测性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Prometheus · Grafana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672084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实习工作总结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183879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WORK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4114800"/>
            <a:ext cx="1371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工作全景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DeepSeek-V4-Flash 模型部署与上线接入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SGLang 适配：DGD 部署与参数调优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Dynamo frontend 监控链路搭建与适配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Warmup 方案设计与实现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Opencode 上报插件与链路搭建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DSH 红区支持适配与打包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26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红区自动值守 Agent 开发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工作全景：红区 AI Infra 分层视图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02</a:t>
            </a:r>
          </a:p>
        </p:txBody>
      </p:sp>
      <p:pic>
        <p:nvPicPr>
          <p:cNvPr id="6" name="Picture 5" descr="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291840"/>
            <a:ext cx="10953441" cy="9281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874752" y="3291840"/>
            <a:ext cx="10085832" cy="45262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负责范围 · 部署与运行时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编排层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DeepSeek-V4-Flash 的 Dynamo DGD 部署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运行时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SGLang 启动参数调优、Warmup 机制统一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交付层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Gitea + ArgoCD GitOps 声明式发布流程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74752" y="8183879"/>
            <a:ext cx="10085832" cy="4480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负责范围 · 监控与 Agent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度量层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Dynamo frontend 指标采集链路与 Grafana 看板适配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Agent 侧  </a:t>
            </a:r>
            <a:r>
              <a:rPr sz="26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Opencode 上报插件全链路、DSH 红区离线包、红区自动值守 Agent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图示为团队整体 AI Infra 分层，上述为本人负责的部分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成果速览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2</a:t>
            </a:r>
            <a:r>
              <a:rPr sz="2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 套形态</a:t>
            </a:r>
          </a:p>
          <a:p>
            <a:pPr algn="l">
              <a:lnSpc>
                <a:spcPct val="115000"/>
              </a:lnSpc>
              <a:spcBef>
                <a:spcPts val="799"/>
              </a:spcBef>
              <a:spcAft>
                <a:spcPts val="4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DeepSeek-V4-Flash 部署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自研 Deployment 版 PD 分离 + Dynamo DGD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29184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4</a:t>
            </a:r>
            <a:r>
              <a:rPr sz="2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 个看板</a:t>
            </a:r>
          </a:p>
          <a:p>
            <a:pPr algn="l">
              <a:lnSpc>
                <a:spcPct val="115000"/>
              </a:lnSpc>
              <a:spcBef>
                <a:spcPts val="799"/>
              </a:spcBef>
              <a:spcAft>
                <a:spcPts val="4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Dynamo 监控看板适配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共 76 个面板，frontend 采集链路根治重复抓取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90120" y="329184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3</a:t>
            </a:r>
            <a:r>
              <a:rPr sz="2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 套环境</a:t>
            </a:r>
          </a:p>
          <a:p>
            <a:pPr algn="l">
              <a:lnSpc>
                <a:spcPct val="115000"/>
              </a:lnSpc>
              <a:spcBef>
                <a:spcPts val="799"/>
              </a:spcBef>
              <a:spcAft>
                <a:spcPts val="4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Opencode 上报链路上线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dev / prod / B 红区全部验证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85664" y="3291840"/>
            <a:ext cx="50749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15+</a:t>
            </a:r>
            <a:r>
              <a:rPr sz="26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 份清单</a:t>
            </a:r>
          </a:p>
          <a:p>
            <a:pPr algn="l">
              <a:lnSpc>
                <a:spcPct val="115000"/>
              </a:lnSpc>
              <a:spcBef>
                <a:spcPts val="799"/>
              </a:spcBef>
              <a:spcAft>
                <a:spcPts val="400"/>
              </a:spcAft>
            </a:pPr>
            <a:r>
              <a:rPr sz="26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Warmup 脚本统一覆盖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4 份重复 ConfigMap 收敛为 1 份共享脚本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模型部署与调优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DeepSeek-V4-Flash 上线接入打通：t-one 建应用 → GitOps 配置 → Apollo 白名单 → 转发验证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SGLang PD 分离 + Mooncake 跨节点 KV 传输跑通，去掉三处 disable 开关后 TTFT / TPOT 同步改善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Dynamo v1.3.0 DGD 部署形态适配完成，一份声明展开出 Frontend / P / D 完整推理图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定位 CP 与 DP attention 互斥、fa3 算子不支持 Hopper 之外等引擎级约束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链路优化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Dynamo frontend 指标采集链路搭建，四个看板按红区实际部署形态适配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Warmup 真实请求录制回放方案，解决冷启动首请求 3 分 56 秒的问题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84296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Agent 工具链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自研 Opencode /report 插件（TUI + Server 双进程），打通服务端 + 钉钉 + web-mgmt 全链路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DSH Web UI 红区离线包，一条命令在无外网机器即开即用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红区支持群自动值守 Agent：单轮巡检耗时由约 10 分钟降至 2–3 分钟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MODEL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DeepSeek-V4-Flash 模型部署与上线接入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429000"/>
            <a:ext cx="680313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GitOps 配置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镜像 / 卡数 /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456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87384" y="3429000"/>
            <a:ext cx="680313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ArgoCD 同步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按环境分批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0520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57448" y="3429000"/>
            <a:ext cx="680313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连通性测试与验证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域名转发 + 推理调用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5806440"/>
            <a:ext cx="12252960" cy="6858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7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GitOps 配置（gitea-app-manifests）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更新推理镜像；卡数与资源限额对齐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datasets 的 hostPath 从 /ppusw/datasets_new 改回 /ppusw/datasets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litellm-proxy 两处 overlay 同步：pdev 的 litellm-config-file、pprod 的 ingress-tone</a:t>
            </a:r>
          </a:p>
          <a:p>
            <a:pPr algn="l">
              <a:lnSpc>
                <a:spcPct val="115000"/>
              </a:lnSpc>
              <a:spcBef>
                <a:spcPts val="1399"/>
              </a:spcBef>
              <a:spcAft>
                <a:spcPts val="599"/>
              </a:spcAft>
            </a:pPr>
            <a:r>
              <a:rPr sz="27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可见与联调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Apollo 白名单补登后模型才会出现在 tone 大模型列表，否则服务跑着但用户看不到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ArgoCD sync 后验证域名转发与实际推理调用，打通才算上线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18920" y="5806440"/>
            <a:ext cx="8741664" cy="39319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易踩的坑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模型名写错（含 . 未换 dot、拼写偏差）会同时影响路由与监控标签，后期纠正成本高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datasets 路径、卡数这类字段部分会被自动同步，但不能假设一定到位，提交前逐项核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白名单 / ingress / 模型库记录分属不同系统，任一环缺失都表现为「服务正常但用不了」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18920" y="10012680"/>
            <a:ext cx="8741664" cy="26517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沉淀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把上线流程整理为可直接照做的步骤文档，后续新模型接入直接复用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PD DISAGGREGATION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SGLang 适配 DeepSeek-V4-Flash-0731：DGD 部署与传输链路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4617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部署形态：DynamoGraphDeployment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CRD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nvidia.com/v1alpha1 · backendFramework: sglang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拓扑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Prefill / Decode 两个 Worker，各 1 副本 8 卡 PPU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端口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 8100 · D 8101，disaggregation-mode 区分角色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资源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rdma/hca: 4，节点亲和 PPU + board.type=810e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服务发现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etcd；事件面 nats；传输 Mooncake，GPU 拓扑由注解注入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以 GitOps 声明式发布，ArgoCD 按环境分批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8183879"/>
            <a:ext cx="12252960" cy="4480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传输链路打通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SGLang PD 分离 + Mooncake 跨节点 KV Cache 传输，绑定 mlx5_bond_* 多网卡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机内场景启用 ICN：MC_FORCE_MNNVL / MC_USE_NVLINK_IPC，以 TRACE 日志验证链路真实生效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K8s 侧 hostNetwork / hostPID / hostIPC + ClusterFirstWithHostNet 是 RDMA 初始化的前提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router 以 mini-lb 串联 P / D，按 round-robin 做 prefill 均衡</a:t>
            </a:r>
          </a:p>
        </p:txBody>
      </p:sp>
      <p:pic>
        <p:nvPicPr>
          <p:cNvPr id="8" name="Picture 7" descr="argocd_d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920" y="3291840"/>
            <a:ext cx="8741664" cy="30575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18920" y="6459089"/>
            <a:ext cx="8741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DGD 资源树：一次声明展开为完整的 P / D 推理图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18920" y="7040880"/>
            <a:ext cx="8741664" cy="5623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与自研 Deployment 版的差异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自研版：P / D 各一份 Deployment，靠 mini-lb 手工串联，副本与端口硬编码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DGD：一份声明由 Operator 展开出 Frontend / P / D 与配套 Service，发布口径统一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Operator 会自动为 frontend 生成 ServiceMonitor，直接影响后面的监控采集口径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控制面具备 Planner，为后续按指标做扩缩容决策留出位置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参数调优与引擎级约束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0497312" cy="4343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开关收敛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去掉 disable-custom-all-reduce / disable-radix-cache / disable-shared-experts-fusion 三个开关，TTFT 与 TPOT 同步改善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逐项回退验证，确认改善来自具体开关而不是环境波动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8138160"/>
            <a:ext cx="10497312" cy="45262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P / D 差异化配置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 端保留 NSA Context Parallel（attn-cp-size 8），承担长输入 prefill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 端使用 DP attention + DP LM head，提升 decode 并发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注意力算子拆分：flashmla 负责 decode、fa3 负责 prefill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63272" y="3291840"/>
            <a:ext cx="10497312" cy="5257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典型问题 → 解法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fa3 报 q_v only supported for Hopper → 拆成 flashmla decode + fa3 prefill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round-robin-split CP 下开 dp-size 报错（CP 与 DP attention 互斥）→ P 端 dp-size 固定为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未开 host 网络时 Mooncake 退化、TTFT 极高 → 补齐 extraPodSpec 三件套与 DNS 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63272" y="9052560"/>
            <a:ext cx="10497312" cy="3611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沉淀与经验阈值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4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形成可复用的 P / D 最小可运行配置模版与排障清单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engine：SGLang 0.5.16 / Dynamo 1.3.1；经验阈值：NVLink 带宽 &lt; 1 GB/s 即判定传输退化为 host 内存拷贝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Dynamo frontend 监控链路搭建与适配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5093208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Dynamo Dashboard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28 面板 · 按 model 切分，看延迟 / 吞吐 / 缓存，零外部依赖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291840"/>
            <a:ext cx="5093208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Disaggregated Analysis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21 面板 · 按 namespace 看 P/D 与 GPU、NVLink 利用率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90120" y="3291840"/>
            <a:ext cx="5093208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Planner Dashboard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13 面板 · 控制面弹性决策，扩缩容预测与 SLA 达成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85664" y="3291840"/>
            <a:ext cx="5093208" cy="2606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Dynamo Operator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14 面板 · CRD 调谐、准入校验与资源清单健康度</a:t>
            </a:r>
          </a:p>
        </p:txBody>
      </p:sp>
      <p:pic>
        <p:nvPicPr>
          <p:cNvPr id="10" name="Picture 9" descr="grafana_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6309360"/>
            <a:ext cx="12252960" cy="54817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11882516"/>
            <a:ext cx="1225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Frontend 行：RPS / E2E / TTFT / ITL / ISL / OSL / Cached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18920" y="6309360"/>
            <a:ext cx="8741664" cy="3063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链路搭建与适配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以 Dynamo v1.3.0 官方看板为底本，按红区实际部署形态适配指标名、变量与图例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打通 frontend 指标采集：ServiceMonitor → Prometheus → Grafana，接入 5 类指标族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18920" y="9738360"/>
            <a:ext cx="8741664" cy="29260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依赖与校验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硬件视角面板依赖 DCGM、node-exporter、kube-state-metrics，缺依赖则该行无数据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逐面板写清计算公式与判读结论，交叉校验 E2E ≈ TTFT + ITL × OSL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监控问题定位与根因修复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0497312" cy="5577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看板图例重复 · 采集层去重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Per-Worker Active Decode Blocks 图例 6 条但只有 2 个 worker，sum() 放大 2~3 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定位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面板 JSON → Prometheus 原始序列标签 → count_over_time 验证抓取间隔 5s / 5s / 15s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三个 ServiceMonitor 的 selector 过宽，同一 frontend Pod 被重复采集三遍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只保留 Operator 原生 endpoint=http 的 ServiceMonitor，删除另两份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结论：采集层重复不应用面板层 max by 掩盖，否则冗余存储与相位错位仍在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9144000"/>
            <a:ext cx="10497312" cy="35204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Namespace 变量污染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下拉出现 canary、v142-default 等历史 namespace，误选即无数据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变量改用 label_values(dynamo_frontend_requests_total, dynamo_namespace) 动态收敛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63272" y="3291840"/>
            <a:ext cx="10497312" cy="4572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Component Throughput 图例错乱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图例 4 条但只有 Request / Response bytes 两个名字，无法区分 worker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此处不是重复抓取，而是 2 个真实 worker 副本 + legendFormat 写死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图例改为 {{worker_id}} 模板化；rate 窗口应 ≥ 4 倍抓取间隔，避免欠采样毛刺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63272" y="8503920"/>
            <a:ext cx="10497312" cy="41605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方法论沉淀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「图例重名」是现象不是根因：先看面板 JSON，再回 Prometheus 比对原始序列标签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同一现象可能对应采集层（重复抓取）或展示层（legend 写死）两类根因，修法完全不同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修在最上游：采集重复就收敛 selector，展示问题才改面板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COLD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Warmup 方案设计与实现：真实请求录制回放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6035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99"/>
              </a:spcAft>
            </a:pPr>
            <a:r>
              <a:rPr sz="27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问题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原 warmup 只发一条 1 万字静态纯文本，与真实的多轮对话 + system prompt + tool_calls + 长上下文差距大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四份 ConfigMap 逻辑 95% 重复，被 15+ 个 deploy.yaml 引用，改一处要改一片</a:t>
            </a:r>
          </a:p>
          <a:p>
            <a:pPr algn="l">
              <a:lnSpc>
                <a:spcPct val="115000"/>
              </a:lnSpc>
              <a:spcBef>
                <a:spcPts val="1399"/>
              </a:spcBef>
              <a:spcAft>
                <a:spcPts val="599"/>
              </a:spcAft>
            </a:pPr>
            <a:r>
              <a:rPr sz="27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方案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litellm-proxy 网关处拦截真实请求，导出 JSONL 到共享存储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统一 llm-warmup-scripts 共享 ConfigMap，支持 JSONL / Legacy / Skip 三种模式，env 全部带默认值，100% 向后兼容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18920" y="3291840"/>
            <a:ext cx="8741664" cy="6035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预期收益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首请求 TTFT 显著下降，算子 / kernel 缓存在 Ready 前完成填充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readinessProbe 与真实可服务状态对齐，避免流量打到未热实例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脚本单点维护，新模型接入只需一个环境变量</a:t>
            </a:r>
          </a:p>
        </p:txBody>
      </p:sp>
      <p:pic>
        <p:nvPicPr>
          <p:cNvPr id="8" name="Picture 7" descr="cold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9555480"/>
            <a:ext cx="15911452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3672" y="12207240"/>
            <a:ext cx="159114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未预热实例的首次请求：一句「你好」端到端 3 分 56 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OPENCODE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Opencode 上报插件开发：端侧采集与分发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4480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插件形态：TUI + Server 双进程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TUI 进程注册 /report 斜杠命令，交互式收集问题描述、会话日志与运行配置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Server 进程后台采集运行上下文，两进程共用同一套上报与脱敏逻辑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file:// 协议插件必须 export default { id, tui } / { id, server }，缺 id 即加载失败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8229600"/>
            <a:ext cx="12252960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采集与脱敏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日志限 maxLogLines 2000、请求超时 30s，避免大日志拖垮端侧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审查脱敏规则有无遗漏，按需补齐 GPU 型号、模型服务端点等定位问题所需字段</a:t>
            </a:r>
          </a:p>
        </p:txBody>
      </p:sp>
      <p:pic>
        <p:nvPicPr>
          <p:cNvPr id="8" name="Picture 7" descr="report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920" y="3291840"/>
            <a:ext cx="8741664" cy="3210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18920" y="6593854"/>
            <a:ext cx="8741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安装后 /report 出现在斜杠命令列表：收集诊断信息并上报问题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18920" y="7315200"/>
            <a:ext cx="8741664" cy="5349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一条 curl 安装 · 版本兼容与防降级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curl -fsSL .../install.sh | bash -s -- --plugin report-issue，红区机器同样适用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install.sh 分写两份配置：server 进 opencode.jsonc、TUI 进 tui.json；卸载可完整回退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v1.1.53 的 plugin schema 不认元组写法 → 安装时校验版本，低于 v1.16.0 直接拒绝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安装时注入 autoupdate: false，防止启动时被 autoupdate 拉回旧版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插件 / 服务端 / 前端分属 opencode-plugins · app-notifier · web-mgmt 三个仓库；曾出现升级后再次启动自动降级、同一问题反复的情况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REPORT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上报链路搭建：从端侧到 web-mgmt 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Opencode /report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端侧采集与脱敏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430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9358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app-notifier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落盘 + MySQL 双写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4468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61396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钉钉通知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实时推送到群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16507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83435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web-mgmt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列表页 / 详情页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38545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05473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状态闭环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open → 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806440"/>
            <a:ext cx="6876288" cy="6035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服务端：文件 + MySQL 双写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app_mgmt 库新建 issue_report 表，沿用 app_info_service.py 的 PyMySQL 模式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save_to_db / list_reports / get_report / update_status 覆盖写入、分页、详情与状态全路径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新增 3 个 API：分页列表（状态 / 上报人筛选）、详情、状态更新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收到上报后做三件事：JSON 落盘 /data/issue-reports/、写库、发钉钉（附详情页链接）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5806440"/>
            <a:ext cx="6876288" cy="6035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前端：列表页 + 详情页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issueReport.ts 定义 API 服务，TanStack Query hooks 统一管请求与缓存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列表页六列 + Tabs 按 open / in_progress / resolved 筛选，分页 + 刷新，点行进详情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详情页：等宽字体可折叠日志、Monaco Editor 展示 JSON 配置、Select 切换状态完成闭环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前端与 app-notifier 相互独立，详情链接域名在 config.py 中以默认值注入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84296" y="5806440"/>
            <a:ext cx="6876288" cy="60350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钉钉通知与推进节奏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机器人 webhook / secret / @ 人三个变量以 GitOps 方式配置在 gitea-app-manifests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四阶段推进：端到端调试 → 数据库持久化 → web-mgmt 前端 → 联调与体验优化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dev → prod → B 红区三套环境全部验证通过（07-31 / 07-31 / 08-09）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3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通知中追加 web-mgmt 详情页链接，群里点链接即可看完整日志与配置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上报链路上线前的四个阻塞问题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0497312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/report 命令不出现 · 两处独立根因叠加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安装完成重启后，/ 斜杠命令列表里没有 /report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根因一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安装脚本把 TUI 条目写进 opencode.jsonc；查源码确认 TUI 配置只读 tui.json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根因二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file:// 插件缺 id 导出，resolvePluginId() 直接抛错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配置拆分 + 双文件补 id，修复同步回源码仓库共 6 个文件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63272" y="3291840"/>
            <a:ext cx="10497312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上报 403 Forbidden · WAF 拦截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插件上报 403，同 URL 用 curl 却成功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排查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10 步收敛：排除端口 / UA / 请求体大小后，二分 JSON 字段锁定 logs，再逐词测试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日志中 shell=/bin/bash 命中 Tengine WAF 命令注入规则，请求未达服务端即被拦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拿到字段级证据后推动 WAF 放行；沉淀「先二分字段、再逐词验证」的排查路径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8229600"/>
            <a:ext cx="10497312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安装脚本报错 + 自动降级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Invalid input: expected string, received array plugin.0；升级后再次启动又被拉回旧版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v1.1.53 plugin schema 只收纯字符串，不认元组；opencode 的 autoupdate 机制自动降级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安装时版本校验（&lt; v1.16.0 拒绝）+ 元组配置写法 + 注入 autoupdate: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63272" y="8229600"/>
            <a:ext cx="10497312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列表页时间多 8 小时 · 时区双重错误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现象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页面显示比机器时间多 8h；插件端 toISOString() 行为正确，先排除端侧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根因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MySQL DATETIME 不带时区 → pymysql 取出 naive 值 → Flask 一律谎报 UTC → 前端再补 +8h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同源反向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strftime 丢 tzinfo 使 timestamp 列存 UTC，两个 bug 互相抵消反而掩盖了问题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处置  </a:t>
            </a:r>
            <a:r>
              <a:rPr sz="2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锁定 app-notifier 一个仓库 2 个文件：naive 值显式标注 Asia/Shanghai，前端零改动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OFFLINE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DSH（DeepSeek Harness）红区支持适配与打包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40690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问题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红区无外网机器无法 npm install，Harness Web UI 起不来；构建机还必须是 Linux x86_64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多人同机端口冲突；settings.yaml 同时是 Web 模型设置页的写入目标，覆写会抹掉用户选择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7863840"/>
            <a:ext cx="12252960" cy="4800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方案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Node 运行时 + npm 应用闭包 + 启动脚本组装为 bundle，tar 后与 header 拼成自解压单文件 dsh.sh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首启播种 settings.yaml：注册 tone 6 个模型、默认 DeepSeek-V4-Flash；已存在时不覆写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注入 --port 0 由系统分配端口，用户显式 --port 仍优先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18920" y="3291840"/>
            <a:ext cx="8741664" cy="49834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交付与验证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交付到 /ppusw/share/yanyihui-dsh/，用户 cp 到家目录 + export TONE_API_KEY 后即用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净环境（env -i，PATH 无 node）验证解压、播种、随机端口三步；二次运行换端口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header 末尾用 exec 替换进程映像，shell 永不把 tar 载荷当脚本解析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以 [ ! -f ] 而非 [ ! -x ] 判断是否已解压，不依赖执行权限位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--host 0.0.0.0 被产品硬性拒绝（界面无认证），远程访问只能走 ssh 端口转发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18920" y="8549640"/>
            <a:ext cx="8741664" cy="41148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已排除方案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pnpm deploy --prod：9 个依赖只声明为 peer / devDependencies，剪掉后启动即报错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npx：未能链接 bin，报 dsh: not found，必须显式 npm install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SEA 单文件：产物入口不含 Web UI；资源 glob 缺 html / css / 字体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三种方案均有硬阻塞，故选自打包 Node 运行时 + 应用闭包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AUTO ON-CALL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红区支持群自动值守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定时巡检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热路径增量 / 兜底 24h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430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9358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拉群消息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checkpoint 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4468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61396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确定性过滤分类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pending / review / cmd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16507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83435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读 FAQ 判题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图文多模态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38545" y="3429000"/>
            <a:ext cx="566928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05473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回复 / DING / 转人工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归档记账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806440"/>
            <a:ext cx="12252960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功能定位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面向钉钉技术支持群的自动值守机器人：按计划巡检群消息，在团队 FAQ 文档中检索结论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检索到才回复，检索不到保持静默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，保证每一条答复都有文档依据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把支持同学产出、有复用价值的问答归档回文档，持续扩充知识库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9418320"/>
            <a:ext cx="12252960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架构：确定性脚本 + 大模型语义层分工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消息拉取、去重、时间窗过滤、归档配对、命令生成全部下沉到确定性脚本（仅标准库）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大模型只保留三项语义职责：读文档判题、拟答正文、复核归档，工具往返与出错面大幅缩小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两条路径：热路径分钟级看 checkpoint 增量求及时；兜底路径小时级固定回看 24h 求补漏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18920" y="5806440"/>
            <a:ext cx="8741664" cy="35661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关键优化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耗时 10 分钟 → 2–3 分钟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：消息为空短路、无依赖步骤并行、限制文档全文阅读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巡检 Prompt 收敛为固定 5 步；data-auth 不预执行，仅在报权限错时按需触发一次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自动归档：引用形式的支持同学答复自动配对，轮末统一复核、串行 append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18920" y="9646920"/>
            <a:ext cx="8741664" cy="30175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两个关键决策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移除关键词打分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：用户表述高度多样，调阈值顾此失彼 → 判题一律交给大模型语义匹配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1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DING 告警严格阈值</a:t>
            </a:r>
            <a:r>
              <a:rPr sz="21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：仅限重要模型不可用，且上下文无其他原因指向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672084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7904" y="8183879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4754880"/>
            <a:ext cx="1371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Warmup 全量落地与效果量化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监控采集口径治理与 DGD 演进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99"/>
              </a:spcAft>
            </a:pPr>
            <a:r>
              <a:rPr sz="30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30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Agent 工具链产品化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zh-CN" altLang="en-US">
                <a:solidFill>
                  <a:srgbClr val="3C4148"/>
                </a:solidFill>
                <a:latin typeface="Microsoft YaHei"/>
                <a:ea typeface="Microsoft YaHei"/>
              </a:rPr>
              <a:t>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 altLang="en-US">
                <a:solidFill>
                  <a:srgbClr val="8A9099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6876288" cy="56692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近期 · 落地收口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录制 Opencode / QwenCode 真实请求，产出各模型 warmup 数据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统一 warmup 脚本从 pdev 推到 pprod 与 prod，完成 15+ 部署清单迁移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补齐 warmup 前后 TTFT 对比数据，把「预期收益」换成实测收益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收敛模型模版中过宽的 ServiceMonitor selector，根治图例重复复发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0808" y="3291840"/>
            <a:ext cx="6876288" cy="56692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中期 · 部署与监控演进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DGD 部署形态从验证走向生产，推进 P / D 副本可独立伸缩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卡量到位后扩大 PD 分离覆盖的模型范围，复用现有配置模版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把 frontend 监控看板的异常判读口径沉淀为告警规则，从看图转为主动发现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84296" y="3291840"/>
            <a:ext cx="6876288" cy="56692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长期 · Agent 工具链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自动值守 Agent 持续扩充知识库，提升答复命中率，逐步覆盖更多支持群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Opencode 上报链路与值守 Agent 打通，上报的问题可自动归档为 FAQ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把排障经验沉淀为可复用的部署模版与检查清单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9418320"/>
            <a:ext cx="21543264" cy="20116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4048" rIns="384048" tIns="307238" bIns="23042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个人成长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 lang="zh-CN" altLang="en-US">
                <a:solidFill>
                  <a:srgbClr val="FF500C"/>
                </a:solidFill>
                <a:latin typeface="Microsoft YaHei"/>
                <a:ea typeface="Microsoft YaHei"/>
              </a:rPr>
              <a:t>•  </a:t>
            </a:r>
            <a:r>
              <a:rPr sz="2500" b="0" lang="zh-CN" altLang="en-US">
                <a:solidFill>
                  <a:srgbClr val="53585F"/>
                </a:solidFill>
                <a:latin typeface="Microsoft YaHei"/>
                <a:ea typeface="Microsoft YaHei"/>
              </a:rPr>
              <a:t>持续沉淀笔记与方案文档，把「跑通」变成「可复现、可移交」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1450</Words>
  <Application>Microsoft Macintosh PowerPoint</Application>
  <PresentationFormat>自定义</PresentationFormat>
  <Paragraphs>257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-apple-system</vt:lpstr>
      <vt:lpstr>Microsoft YaHei</vt:lpstr>
      <vt:lpstr>Arial</vt:lpstr>
      <vt:lpstr>Helvetica Light</vt:lpstr>
      <vt:lpstr>Helvetica Neue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Elena Y</cp:lastModifiedBy>
  <cp:revision>25</cp:revision>
  <dcterms:modified xsi:type="dcterms:W3CDTF">2026-09-09T02:16:41Z</dcterms:modified>
</cp:coreProperties>
</file>