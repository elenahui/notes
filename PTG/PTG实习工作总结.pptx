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321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273" r:id="rId1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4E0B"/>
    <a:srgbClr val="FF5817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2"/>
    <p:restoredTop sz="94647"/>
  </p:normalViewPr>
  <p:slideViewPr>
    <p:cSldViewPr snapToGrid="0" snapToObjects="1">
      <p:cViewPr varScale="1">
        <p:scale>
          <a:sx n="75" d="100"/>
          <a:sy n="75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t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yexwnokfdnphfkuh.jpg" descr="yexwnokfdnphfkuh.jpg"/>
          <p:cNvPicPr>
            <a:picLocks noChangeAspect="1"/>
          </p:cNvPicPr>
          <p:nvPr/>
        </p:nvPicPr>
        <p:blipFill>
          <a:blip r:embed="rId2"/>
          <a:srcRect l="43765" r="1684"/>
          <a:stretch>
            <a:fillRect/>
          </a:stretch>
        </p:blipFill>
        <p:spPr>
          <a:xfrm>
            <a:off x="-6169" y="0"/>
            <a:ext cx="7481889" cy="13716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7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6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66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86589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成组"/>
          <p:cNvGrpSpPr/>
          <p:nvPr/>
        </p:nvGrpSpPr>
        <p:grpSpPr>
          <a:xfrm>
            <a:off x="628871" y="640699"/>
            <a:ext cx="5079052" cy="487415"/>
            <a:chOff x="0" y="0"/>
            <a:chExt cx="5079051" cy="487413"/>
          </a:xfrm>
        </p:grpSpPr>
        <p:pic>
          <p:nvPicPr>
            <p:cNvPr id="49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51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3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侧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/>
          <p:nvPr/>
        </p:nvSpPr>
        <p:spPr>
          <a:xfrm flipH="1">
            <a:off x="-67992" y="-63457"/>
            <a:ext cx="7507546" cy="1384291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90713">
              <a:def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grpSp>
        <p:nvGrpSpPr>
          <p:cNvPr id="80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77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7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1" name="New Product Release"/>
          <p:cNvSpPr txBox="1"/>
          <p:nvPr/>
        </p:nvSpPr>
        <p:spPr>
          <a:xfrm>
            <a:off x="21544739" y="419100"/>
            <a:ext cx="262498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117" name="KV Summit(1)-底纹.psd" descr="KV Summit(1)-底纹.psd"/>
          <p:cNvPicPr>
            <a:picLocks noChangeAspect="1"/>
          </p:cNvPicPr>
          <p:nvPr/>
        </p:nvPicPr>
        <p:blipFill>
          <a:blip r:embed="rId2">
            <a:alphaModFix amt="25328"/>
          </a:blip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1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18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1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0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34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31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32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18181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47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44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背景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像" descr="图像"/>
          <p:cNvPicPr>
            <a:picLocks noChangeAspect="1"/>
          </p:cNvPicPr>
          <p:nvPr/>
        </p:nvPicPr>
        <p:blipFill>
          <a:blip r:embed="rId2">
            <a:alphaModFix amt="30000"/>
          </a:blip>
          <a:srcRect t="4919" b="8801"/>
          <a:stretch>
            <a:fillRect/>
          </a:stretch>
        </p:blipFill>
        <p:spPr>
          <a:xfrm>
            <a:off x="-69104" y="-194433"/>
            <a:ext cx="24522207" cy="141048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170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1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72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页基本 拷贝"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82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83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88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2" name="图像" descr="图像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4" name="图像" descr="图像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3653366" y="1958422"/>
            <a:ext cx="19507201" cy="249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458252"/>
            <a:ext cx="9550401" cy="8761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9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2" r:id="rId2"/>
    <p:sldLayoutId id="2147483654" r:id="rId3"/>
    <p:sldLayoutId id="2147483657" r:id="rId4"/>
    <p:sldLayoutId id="2147483658" r:id="rId5"/>
    <p:sldLayoutId id="2147483659" r:id="rId6"/>
    <p:sldLayoutId id="2147483661" r:id="rId7"/>
    <p:sldLayoutId id="2147483662" r:id="rId8"/>
    <p:sldLayoutId id="2147483663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127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190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254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317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381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444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508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571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这里是标题平头哥PPT模版"/>
          <p:cNvSpPr txBox="1"/>
          <p:nvPr/>
        </p:nvSpPr>
        <p:spPr>
          <a:xfrm>
            <a:off x="3100468" y="4956136"/>
            <a:ext cx="18183064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74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en-US" dirty="0"/>
              <a:t>红区大模型推理平台建设与优化</a:t>
            </a:r>
            <a:endParaRPr dirty="0"/>
          </a:p>
        </p:txBody>
      </p:sp>
      <p:sp>
        <p:nvSpPr>
          <p:cNvPr id="197" name="演讲人姓名"/>
          <p:cNvSpPr txBox="1"/>
          <p:nvPr/>
        </p:nvSpPr>
        <p:spPr>
          <a:xfrm>
            <a:off x="8410540" y="10045734"/>
            <a:ext cx="7562917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55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闫一慧</a:t>
            </a:r>
          </a:p>
        </p:txBody>
      </p:sp>
      <p:sp>
        <p:nvSpPr>
          <p:cNvPr id="198" name="职位名称平头哥市场高级专家"/>
          <p:cNvSpPr txBox="1"/>
          <p:nvPr/>
        </p:nvSpPr>
        <p:spPr>
          <a:xfrm>
            <a:off x="6657482" y="11197796"/>
            <a:ext cx="11069036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LLM 推理平台实习生 · 阿里巴巴平头哥半导体</a:t>
            </a:r>
          </a:p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2026 / 09</a:t>
            </a:r>
          </a:p>
        </p:txBody>
      </p:sp>
      <p:sp>
        <p:nvSpPr>
          <p:cNvPr id="199" name="New Future on Cloud"/>
          <p:cNvSpPr txBox="1"/>
          <p:nvPr/>
        </p:nvSpPr>
        <p:spPr>
          <a:xfrm>
            <a:off x="6391342" y="6253522"/>
            <a:ext cx="11601316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defRPr sz="40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PD 分离 · 智能调度 · 监控体系 · Agent 工具链</a:t>
            </a:r>
          </a:p>
        </p:txBody>
      </p:sp>
      <p:grpSp>
        <p:nvGrpSpPr>
          <p:cNvPr id="203" name="成组"/>
          <p:cNvGrpSpPr/>
          <p:nvPr/>
        </p:nvGrpSpPr>
        <p:grpSpPr>
          <a:xfrm>
            <a:off x="853287" y="553848"/>
            <a:ext cx="4704399" cy="451463"/>
            <a:chOff x="0" y="0"/>
            <a:chExt cx="4704397" cy="451462"/>
          </a:xfrm>
        </p:grpSpPr>
        <p:pic>
          <p:nvPicPr>
            <p:cNvPr id="200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056"/>
              <a:ext cx="2553489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1" name="线条"/>
            <p:cNvSpPr/>
            <p:nvPr/>
          </p:nvSpPr>
          <p:spPr>
            <a:xfrm flipV="1">
              <a:off x="2731308" y="-1"/>
              <a:ext cx="3" cy="45146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202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0030" y="4056"/>
              <a:ext cx="1664368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s">
            <a:extLst>
              <a:ext uri="{FF2B5EF4-FFF2-40B4-BE49-F238E27FC236}">
                <a16:creationId xmlns:a16="http://schemas.microsoft.com/office/drawing/2014/main" id="{5FDE7978-F0E2-7036-C826-0EDE813F6C2D}"/>
              </a:ext>
            </a:extLst>
          </p:cNvPr>
          <p:cNvSpPr txBox="1"/>
          <p:nvPr/>
        </p:nvSpPr>
        <p:spPr>
          <a:xfrm>
            <a:off x="1522058" y="4953227"/>
            <a:ext cx="4678820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Contents</a:t>
            </a:r>
          </a:p>
        </p:txBody>
      </p:sp>
      <p:sp>
        <p:nvSpPr>
          <p:cNvPr id="3" name="目录">
            <a:extLst>
              <a:ext uri="{FF2B5EF4-FFF2-40B4-BE49-F238E27FC236}">
                <a16:creationId xmlns:a16="http://schemas.microsoft.com/office/drawing/2014/main" id="{2B8C771B-E661-2FAE-BD40-AF82A0A99F85}"/>
              </a:ext>
            </a:extLst>
          </p:cNvPr>
          <p:cNvSpPr txBox="1"/>
          <p:nvPr/>
        </p:nvSpPr>
        <p:spPr>
          <a:xfrm>
            <a:off x="1484456" y="6219473"/>
            <a:ext cx="4111282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目录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824F74E9-6D7E-F16E-BDDF-7817135C8BFE}"/>
              </a:ext>
            </a:extLst>
          </p:cNvPr>
          <p:cNvSpPr txBox="1"/>
          <p:nvPr/>
        </p:nvSpPr>
        <p:spPr>
          <a:xfrm>
            <a:off x="9885636" y="3376966"/>
            <a:ext cx="1056613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01</a:t>
            </a:r>
          </a:p>
        </p:txBody>
      </p:sp>
      <p:sp>
        <p:nvSpPr>
          <p:cNvPr id="5" name="IT基础设施云化">
            <a:extLst>
              <a:ext uri="{FF2B5EF4-FFF2-40B4-BE49-F238E27FC236}">
                <a16:creationId xmlns:a16="http://schemas.microsoft.com/office/drawing/2014/main" id="{417A22C2-AADD-2157-FFDD-3E1068665E11}"/>
              </a:ext>
            </a:extLst>
          </p:cNvPr>
          <p:cNvSpPr txBox="1"/>
          <p:nvPr/>
        </p:nvSpPr>
        <p:spPr>
          <a:xfrm>
            <a:off x="11057483" y="3360168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>
                <a:latin typeface="-apple-system"/>
              </a:rPr>
              <a:t>个人介绍</a:t>
            </a:r>
            <a:endParaRPr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B8D7B28B-F9B9-CF65-DEFF-198D8C820012}"/>
              </a:ext>
            </a:extLst>
          </p:cNvPr>
          <p:cNvSpPr txBox="1"/>
          <p:nvPr/>
        </p:nvSpPr>
        <p:spPr>
          <a:xfrm>
            <a:off x="9885636" y="5490143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02</a:t>
            </a:r>
          </a:p>
        </p:txBody>
      </p:sp>
      <p:sp>
        <p:nvSpPr>
          <p:cNvPr id="7" name="IT基础设施云化">
            <a:extLst>
              <a:ext uri="{FF2B5EF4-FFF2-40B4-BE49-F238E27FC236}">
                <a16:creationId xmlns:a16="http://schemas.microsoft.com/office/drawing/2014/main" id="{E77E8745-D86F-A2F6-0EC3-5EF0E97EB850}"/>
              </a:ext>
            </a:extLst>
          </p:cNvPr>
          <p:cNvSpPr txBox="1"/>
          <p:nvPr/>
        </p:nvSpPr>
        <p:spPr>
          <a:xfrm>
            <a:off x="11057480" y="5498745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CN" dirty="0">
                <a:latin typeface="-apple-system"/>
              </a:rPr>
              <a:t>工作总结</a:t>
            </a:r>
            <a:endParaRPr lang="zh-CN" altLang="en-US" dirty="0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DC513043-C248-8B2E-98C8-0DF99C2B56AC}"/>
              </a:ext>
            </a:extLst>
          </p:cNvPr>
          <p:cNvSpPr txBox="1"/>
          <p:nvPr/>
        </p:nvSpPr>
        <p:spPr>
          <a:xfrm>
            <a:off x="9885636" y="7765644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9" name="IT基础设施云化">
            <a:extLst>
              <a:ext uri="{FF2B5EF4-FFF2-40B4-BE49-F238E27FC236}">
                <a16:creationId xmlns:a16="http://schemas.microsoft.com/office/drawing/2014/main" id="{C0009461-E5CC-3ADF-683F-AC9B0A80EED8}"/>
              </a:ext>
            </a:extLst>
          </p:cNvPr>
          <p:cNvSpPr txBox="1"/>
          <p:nvPr/>
        </p:nvSpPr>
        <p:spPr>
          <a:xfrm>
            <a:off x="11057480" y="7774247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/>
              <a:t>未来规划</a:t>
            </a:r>
          </a:p>
        </p:txBody>
      </p:sp>
    </p:spTree>
    <p:extLst>
      <p:ext uri="{BB962C8B-B14F-4D97-AF65-F5344CB8AC3E}">
        <p14:creationId xmlns:p14="http://schemas.microsoft.com/office/powerpoint/2010/main" val="37205861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67208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个人介绍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7904" y="8183879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4754880"/>
            <a:ext cx="137160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教育背景与实习经历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在平头哥的岗位职责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技术栈与工具链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个人介绍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0041466"/>
            <a:ext cx="10497311" cy="256201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dirty="0" err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教育背景</a:t>
            </a:r>
            <a:endParaRPr lang="en-US" sz="3000" b="1" dirty="0">
              <a:solidFill>
                <a:srgbClr val="FF500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华东师范大学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软件工程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硕士在读</a:t>
            </a:r>
            <a:endParaRPr lang="en-US"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西安电子科技大学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软件工程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240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学士学位</a:t>
            </a:r>
            <a:endParaRPr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463272" y="3291839"/>
            <a:ext cx="10497311" cy="4141893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dirty="0" err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岗位职责</a:t>
            </a:r>
            <a:endParaRPr sz="3000" b="1" dirty="0">
              <a:solidFill>
                <a:srgbClr val="FF500C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负责红区大模型推理平台基于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GitOps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PD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分离部署、</a:t>
            </a:r>
            <a:r>
              <a:rPr lang="en-US" altLang="zh-CN"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Dynamo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调度架构与监控体系建设</a:t>
            </a:r>
            <a:endParaRPr lang="en-US"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支撑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DeepSeek-V4-Flash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等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MoE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模型在自研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PPU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芯片上的在线推理服务</a:t>
            </a:r>
            <a:endParaRPr lang="en-US"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endParaRPr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2463272" y="9194800"/>
            <a:ext cx="10497311" cy="34696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dirty="0" err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技术栈</a:t>
            </a:r>
            <a:endParaRPr sz="3000" b="1" dirty="0">
              <a:solidFill>
                <a:srgbClr val="FF500C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推理引擎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SGLang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vLLM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分布式传输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Mooncake · RDMA </a:t>
            </a:r>
            <a:endParaRPr lang="en-US"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云原生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Kubernetes ·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ArgoCD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lang="en-US"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 dirty="0" err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  <a:r>
              <a:rPr sz="2400" b="1" dirty="0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Prometheus · Grafana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3146C36-8DA0-A66B-B459-B6E530AA2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" y="3532124"/>
            <a:ext cx="5921586" cy="59215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67208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工作总结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7904" y="8183879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WORK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4754880"/>
            <a:ext cx="137160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工作全景与成果速览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PD 分离部署与参数调优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Dynamo 智能调度架构迁移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监控体系建设与疑难问题定位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Warmup 方案、性能报告与 Agent 工具链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工作全景：红区 AI Infra 分层视图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6" name="Picture 5" descr="红区AI 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291840"/>
            <a:ext cx="10953441" cy="9281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873681" y="3291840"/>
            <a:ext cx="10086902" cy="92811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我的负责范围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编排层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自研 Deployment 版 PD 分离、Dynamo DGD 部署与调度演进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度量层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TTFT / ITL / 吞吐 / KV 命中率的 Prometheus 采集与 Grafana 看板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运行时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SGLang / vLLM 启动参数调优、Warmup 机制统一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交付层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Gitea + ArgoCD GitOps 声明式发布，多环境灰度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Agent 侧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Opencode 上报插件全链路、DeepSeek Harness 离线包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图示为团队整体 AI Infra 分层，上述为本人参与的部分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成果速览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5077205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365760" rIns="292608" bIns="27432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2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 个看板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Grafana 监控看板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共 76 个面板，覆盖数据面与控制面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6005" y="3291840"/>
            <a:ext cx="5077205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365760" rIns="292608" bIns="27432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7</a:t>
            </a:r>
            <a:r>
              <a:rPr sz="2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 个模型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性能基线覆盖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跨 vLLM / SGLang 两套引擎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94692" y="3291840"/>
            <a:ext cx="5077205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365760" rIns="292608" bIns="27432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2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 个 MoE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PD 分离部署验证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Kimi-K2.6 / Qwen3.5-397B 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83378" y="3291840"/>
            <a:ext cx="5077205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365760" rIns="292608" bIns="27432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sz="26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 套环境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Agent 上报链路上线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dev / prod / B 红区全部验证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dirty="0" err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平台交付</a:t>
            </a:r>
            <a:endParaRPr sz="3000" b="1" dirty="0">
              <a:solidFill>
                <a:srgbClr val="FF500C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DeepSeek-V4-Flash等模型 PD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分离部署跑通并调优</a:t>
            </a:r>
            <a:endParaRPr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MiniMax-M2.7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端到端上线：t-one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建应用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GitOps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域名白名单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四层转发</a:t>
            </a:r>
            <a:endParaRPr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  <a:p>
            <a:pPr marL="342900" indent="-34290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 dirty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Dynamo v1.3.0 DGD </a:t>
            </a:r>
            <a:r>
              <a:rPr sz="2400" b="0" dirty="0" err="1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部署形态验证，为替换网关静态路由铺路</a:t>
            </a:r>
            <a:endParaRPr sz="2400" b="0" dirty="0">
              <a:solidFill>
                <a:srgbClr val="5358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750808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性能与稳定性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去掉三处 disable 开关，TTFT / TPOT 明显改善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定位 CP 与 DP attention 互斥、fa3 算子不支持等引擎级约束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Warmup 真实请求录制回放方案，解决冷启动首请求慢的问题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周 / 日双周期性能报告 Skill，指标趋势自动产出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84296" y="6903720"/>
            <a:ext cx="6876288" cy="57607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工具链效率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Opencode /report 插件 + 服务端 + 钉钉 + web-mgmt 全链路打通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DeepSeek Harness Web UI 离线包，一条命令在红区内网即开即用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4 份重复 ConfigMap 收敛为 1 份共享脚本，影响 15+ 部署清单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PD DISAGGREGATION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PD 分离部署与参数调优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9372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传输链路打通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SGLang PD 分离 + Mooncake 跨节点 KV Cache 传输，绑定 mlx5_bond_* 多网卡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机内场景启用 ICN：MC_FORCE_MNNVL / MC_USE_NVLINK_IPC，以 TRACE 日志验证链路真实生效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K8s 侧 hostNetwork / hostPID / hostIPC + ClusterFirstWithHostNet 是 RDMA 初始化的前提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</a:pPr>
            <a:r>
              <a:rPr sz="27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参数调优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去掉 disable-custom-all-reduce / radix-cache / shared-experts-fusion 三个开关，TTFT 与 TPOT 同步改善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 端保留 NSA Context Parallel（attn-cp-size 8），D 端使用 DP attention + DP LM head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router 以 mini-lb 串联 P / D，按 round-robin 做 prefill 均衡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</a:pPr>
            <a:r>
              <a:rPr sz="27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沉淀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形成可复用的 P / D 最小可运行配置模板与排障清单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18920" y="3291840"/>
            <a:ext cx="8741663" cy="41605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覆盖模型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Kimi-K2.6 · DeepSeek-V4-Flash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Qwen3.5-397B-A17B-INT8（8 卡机内 ICN）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Qwen3-235B-A22B-INT8（16 卡跨节点）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engine：SGLang 0.5.16 / Dynamo 1.3.1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218920" y="8001000"/>
            <a:ext cx="8741663" cy="46634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典型问题 → 解法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fa3 报 q_v only supported for Hopper → 拆成 flashmla decode + fa3 prefill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round-robin-split CP 下开 dp-size 报错 → P 端 dp-size 固定为 1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未开 host 网络时 Mooncake 退化、TTFT 极高 → 补齐 extraPodSpec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SCHEDULING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Dynamo 智能调度架构迁移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0972800" cy="562356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部署形态：DynamoGraphDeployment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CRD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nvidia.com/v1alpha1 · backendFramework: sglang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拓扑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Prefill / Decode 两个 Worker，各 1 副本 8 卡 PPU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端口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 8100 · D 8101，disaggregation-mode 区分角色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服务发现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etcd；事件面 nats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资源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rdma/hca: 4，节点亲和 PPU + board.type=810e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5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传输  </a:t>
            </a:r>
            <a:r>
              <a:rPr sz="25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Mooncake，GPU 拓扑由注解注入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1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以 GitOps 声明式发布，ArgoCD 按环境分批 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17320" y="9418320"/>
            <a:ext cx="10972800" cy="324611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与自研 Deployment 版的差异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自研版：P / D 各一份 Deployment，靠 mini-lb 手工串联，副本与端口硬编码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DGD：一份声明由 Operator 展开出 Frontend / P / D 与配套 Service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控制面具备 Planner，为后续根据指标做扩缩容决策留出位置</a:t>
            </a:r>
          </a:p>
        </p:txBody>
      </p:sp>
      <p:pic>
        <p:nvPicPr>
          <p:cNvPr id="8" name="Picture 7" descr="Pasted image 20260828153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8760" y="3291840"/>
            <a:ext cx="10021824" cy="35052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38760" y="6906843"/>
            <a:ext cx="100218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DGD 资源树：一次声明展开为完整的 P / D 推理图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38760" y="7574355"/>
            <a:ext cx="10021824" cy="5090084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调度演进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现状：Kong 网关静态 Hash 路由，无法感知 Worker 实际负载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方向：基于 KV Cache 占用率、队列长度的 KV-Aware Routing 动态分发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配套：Pod 级弹性 PD 部署，P / D 副本可独立伸缩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OBSERVABILITY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监控体系建设：Prometheus + Grafana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5097779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248716" rIns="310896" bIns="186537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Dynamo Dashboard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28 面板 · 按 model 切分，看延迟 / 吞吐 / 缓存，零外部依赖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99147" y="3291840"/>
            <a:ext cx="5097779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248716" rIns="310896" bIns="186537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Disaggregated Analysis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21 面板 · 按 namespace 看 P/D 与 GPU、NVLink 利用率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80976" y="3291840"/>
            <a:ext cx="5097779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248716" rIns="310896" bIns="186537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Planner Dashboard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13 面板 · 控制面弹性决策，扩缩容预测与 SLA 达成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62804" y="3291840"/>
            <a:ext cx="5097779" cy="324612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10896" tIns="248716" rIns="310896" bIns="186537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Dynamo Operator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2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14 面板 · CRD 调谐、准入校验与资源清单健康度</a:t>
            </a:r>
          </a:p>
        </p:txBody>
      </p:sp>
      <p:pic>
        <p:nvPicPr>
          <p:cNvPr id="10" name="Picture 9" descr="Pasted image 20260811171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6949440"/>
            <a:ext cx="12252960" cy="54817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12522596"/>
            <a:ext cx="1225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Frontend 行：RPS / E2E / TTFT / ITL / ISL / OSL / Cached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218920" y="6949440"/>
            <a:ext cx="8741663" cy="5715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指标与判读方法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接入 5 类指标族：frontend / component / router / planner / operator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硬件视角依赖 DCGM、node-exporter、kube-state-metrics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交叉校验：E2E ≈ TTFT + ITL × OSL，异常即怀疑采集口径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经验阈值：NVLink 带宽 &lt; 1 GB/s 判定传输退化为 host 内存拷贝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疑难问题定位与根因修复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0497311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看板图例重复 · 采集层去重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现象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同名曲线出现三条且相位错开，sum() 结果放大 2~3 倍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根因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三个 ServiceMonitor 的 selector 过宽，同时命中 frontend Pod，以 5s/5s/15s 重复抓取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处置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只保留 Operator 原生 endpoint=http 的 ServiceMonitor，删除模型模板与平台侧两份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结论：采集层重复不应用面板层 max by 掩盖，否则冗余存储与相位错位仍在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463272" y="3291840"/>
            <a:ext cx="10497311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Component Throughput 图例错乱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现象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图例硬编码，多 Worker 无法区分；曲线毛刺明显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处置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改为 {{worker_id}} 模板化，并把 rate 窗口修正为 [1m] 避免欠采样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8229600"/>
            <a:ext cx="10497311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Namespace 变量污染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现象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下拉出现 canary、v142-default 等历史 namespace，误选即无数据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处置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变量改用 label_values(dynamo_frontend_requests_total, dynamo_namespace) 动态收敛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463272" y="8229600"/>
            <a:ext cx="10497311" cy="44348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PD 链路不通 / TTFT 异常高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现象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Mooncake 无法初始化 RDMA 设备，或退化到低效路径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3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处置  </a:t>
            </a:r>
            <a:r>
              <a:rPr sz="23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补齐 host 网络三件套与 DNS 策略；以 MC_LOG_LEVEL=TRACE 复核内存注册日志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COLD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Warmup：真实请求录制回放方案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12252960" cy="9372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原 warmup 只发一条 1 万字静态纯文本，与真实的多轮对话 + system prompt + tool_calls + 长上下文差距大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四份 ConfigMap 逻辑 95% 重复，被 15+ 个 deploy.yaml 引用，改一处要改一片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litellm-proxy 新增 /capture/export-warmup：按模型筛选真实请求，去重、限长后导出 JSONL 到共享存储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统一 llm-warmup-scripts 共享 ConfigMap，支持 JSONL / Legacy 纯文本 / Skip 三种模式，env 全部带默认值，100% 向后兼容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600"/>
              </a:spcAft>
            </a:pPr>
            <a:r>
              <a:rPr sz="26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安全设计与灰度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warmup 失败只打 WARNING 并始终创建就绪标记，绝不阻塞 Pod Ready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export 限制 prompt 32K、脚本层 max_tokens cap 2048，串行发送避免启动期 OOM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pdev 单模型验证 → pprod → prod 分批迁移，ArgoCD 按 App 粒度控制节奏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18920" y="3291840"/>
            <a:ext cx="8741663" cy="43434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痛点实证</a:t>
            </a:r>
          </a:p>
        </p:txBody>
      </p:sp>
      <p:pic>
        <p:nvPicPr>
          <p:cNvPr id="8" name="Picture 7" descr="Pasted image 20260903114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968" y="4434840"/>
            <a:ext cx="7973567" cy="12830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02968" y="5763590"/>
            <a:ext cx="797356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未预热实例的首次请求：一句「你好」端到端 3 分 56 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18920" y="8138160"/>
            <a:ext cx="8741663" cy="452627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预期收益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首请求 TTFT 显著下降，算子 / kernel 缓存在 Ready 前完成填充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readinessProbe 与真实可服务状态对齐，避免流量打到未热实例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脚本单点维护，新模型接入只需一个环境变量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PERFORMANCE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性能分析报告 Skill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6876288" cy="4206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采集范围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7 个在线模型，跨 vLLM 与 SGLang 两套引擎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直连 Prometheus range query，采样间隔 5 分钟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weekly（自然周对比上上周）与 daily（昨天对比前天）双模式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0808" y="3291840"/>
            <a:ext cx="6876288" cy="4206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指标口径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TTFT / TPOT：直方图 sum 与 count 的比值换算为毫秒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Throughput：成功请求速率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KV Cache 利用率与命中率：分引擎适配不同指标名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84296" y="3291840"/>
            <a:ext cx="6876288" cy="420624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统计与呈现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Avg / Max / Min / Median / P95 / StdDev 六项统计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延迟类指标标注改善或恶化趋势与变化率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同时产出 Markdown 与 HTML 两份报告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8046720"/>
            <a:ext cx="10497311" cy="461771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关键计算方法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KV 指标按 Pod 独立取时间序列，先过滤值为 0 的时间点，再在相同时间点对全部 Pod 取平均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SGLang 按 (pod, engine_type) 维度独立计算后再聚合，避免 P / D 混算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目的：避免空闲副本把有效负载时段的均值拉平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463272" y="8046720"/>
            <a:ext cx="10497311" cy="461771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价值与规划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把「看图判断」沉淀为可复现的量化口径，周期性输出趋势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报告按日期归档，可回溯任意周期的性能变化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后续与大模型性能分析平台结合，定时产出平台级性能基线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AGENT TOOLCHAIN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Agent 工具链二次开发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Opencode /report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端侧采集与脱敏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2430" y="3429000"/>
            <a:ext cx="566928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9358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app-notifier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落盘 + MySQL 持久化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4468" y="3429000"/>
            <a:ext cx="566928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61396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钉钉通知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实时推送到群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16507" y="3429000"/>
            <a:ext cx="566928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83435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web-mgmt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列表页 / 详情页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538545" y="3429000"/>
            <a:ext cx="566928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105473" y="3429000"/>
            <a:ext cx="385511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F50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状态闭环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open → 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5806440"/>
            <a:ext cx="10497311" cy="6858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Opencode 问题上报链路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插件侧：一条 curl 安装，/report 交互式收集日志与配置并脱敏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服务端：新建 issue_report 表与 3 个 API（分页列表 / 详情 / 状态更新），文件与数据库双写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前端：TanStack Query + 列表筛选分页，详情页用等宽日志与 Monaco 展示配置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修复 4 个上线阻塞问题：缺 report 接口、上报 403、安装脚本报错、时区错误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dev → prod → B 红区三套环境全部验证通过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463272" y="5806440"/>
            <a:ext cx="10497311" cy="68580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DeepSeek Harness Web UI 离线包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Node 运行时 + npm 应用闭包打包为自解压单文件，红区无外网机器一条命令即用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首启播种 settings.yaml，注册内部 6 个模型并指定默认模型；已存在时不覆写用户选择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注入 --port 0 由系统分配端口，规避多人同机冲突；远程访问走 ssh 端口转发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净环境（env -i，PATH 无 node）验证解压、播种、随机端口三步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0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已排除 pnpm deploy --prod、npx、SEA 单文件三种方案，均有硬阻塞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4617720"/>
            <a:ext cx="4572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81328" y="6720840"/>
            <a:ext cx="5852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7904" y="8183879"/>
            <a:ext cx="5852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17904" y="6263640"/>
            <a:ext cx="173736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0" y="4754880"/>
            <a:ext cx="1371600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Warmup 全量落地与真实请求录制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Dynamo 智能调度与多级缓存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30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30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性能基线平台化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320" y="1188720"/>
            <a:ext cx="215432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1691640"/>
            <a:ext cx="215432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3C4148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1417320" y="2889504"/>
            <a:ext cx="1920240" cy="54864"/>
          </a:xfrm>
          <a:prstGeom prst="rect">
            <a:avLst/>
          </a:prstGeom>
          <a:solidFill>
            <a:srgbClr val="FF50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131784" y="13002768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A909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3291840"/>
            <a:ext cx="6876288" cy="5897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近期 · 落地收口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录制 Opencode / QwenCode 真实请求，产出各模型 warmup 数据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统一 warmup 脚本从 pdev 推到 pprod、prod，完成 15+ 部署清单迁移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补齐 warmup 前后 TTFT 对比数据，量化收益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收敛模型模板中过宽的 ServiceMonitor selector，根治图例重复复发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50808" y="3291840"/>
            <a:ext cx="6876288" cy="5897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中期 · 调度与缓存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Dynamo Platform 生产化部署，替换网关静态 Hash 路由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KV-Aware Routing 上线，按 KV 占用与队列长度动态分发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Prefix Cache 策略治理与 KVBM 多级缓存验证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卡量到位后扩大 PD 分离覆盖，推进 Pod 级弹性伸缩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84296" y="3291840"/>
            <a:ext cx="6876288" cy="589788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长期 · 平台化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性能基线平台化：报告定时产出，接入告警与 SLA 视图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PPU 拓扑调度插件与业务池弹性调度，提升整体卡利用率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把排障经验沉淀为可复用的部署模板与检查清单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9738360"/>
            <a:ext cx="21543264" cy="2926079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5875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307238" rIns="384048" bIns="2304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个人成长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系统学习 CS336 与推理系统源码（SGLang 调度器、KV 管理），补齐从算子到调度的完整链路认知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2400" b="0">
                <a:solidFill>
                  <a:srgbClr val="FF500C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2400" b="0">
                <a:solidFill>
                  <a:srgbClr val="53585F"/>
                </a:solidFill>
                <a:latin typeface="Microsoft YaHei"/>
                <a:ea typeface="Microsoft YaHei"/>
                <a:cs typeface="Microsoft YaHei"/>
              </a:rPr>
              <a:t>持续沉淀笔记与方案文档，把「跑通」变成「可复现、可移交」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KV Summit(1)-底纹.psd" descr="KV Summit(1)-底纹.ps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谢谢观赏"/>
          <p:cNvSpPr txBox="1"/>
          <p:nvPr/>
        </p:nvSpPr>
        <p:spPr>
          <a:xfrm>
            <a:off x="1392108" y="4129887"/>
            <a:ext cx="8011732" cy="2184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 defTabSz="821690">
              <a:defRPr sz="13000" spc="2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谢谢</a:t>
            </a:r>
          </a:p>
        </p:txBody>
      </p:sp>
      <p:sp>
        <p:nvSpPr>
          <p:cNvPr id="411" name="THANKS FOR YOUR ATTENTION"/>
          <p:cNvSpPr txBox="1"/>
          <p:nvPr/>
        </p:nvSpPr>
        <p:spPr>
          <a:xfrm>
            <a:off x="1498806" y="6218832"/>
            <a:ext cx="11601315" cy="660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l" defTabSz="457200">
              <a:defRPr sz="40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THANK YOU</a:t>
            </a:r>
          </a:p>
        </p:txBody>
      </p:sp>
      <p:grpSp>
        <p:nvGrpSpPr>
          <p:cNvPr id="417" name="成组"/>
          <p:cNvGrpSpPr/>
          <p:nvPr/>
        </p:nvGrpSpPr>
        <p:grpSpPr>
          <a:xfrm>
            <a:off x="1162031" y="11227910"/>
            <a:ext cx="6889081" cy="661112"/>
            <a:chOff x="0" y="0"/>
            <a:chExt cx="6889080" cy="661110"/>
          </a:xfrm>
        </p:grpSpPr>
        <p:sp>
          <p:nvSpPr>
            <p:cNvPr id="412" name="线条"/>
            <p:cNvSpPr/>
            <p:nvPr/>
          </p:nvSpPr>
          <p:spPr>
            <a:xfrm flipV="1">
              <a:off x="3999705" y="-1"/>
              <a:ext cx="2" cy="661111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grpSp>
          <p:nvGrpSpPr>
            <p:cNvPr id="416" name="成组"/>
            <p:cNvGrpSpPr/>
            <p:nvPr/>
          </p:nvGrpSpPr>
          <p:grpSpPr>
            <a:xfrm>
              <a:off x="-1" y="0"/>
              <a:ext cx="6889081" cy="661111"/>
              <a:chOff x="0" y="0"/>
              <a:chExt cx="6889080" cy="661109"/>
            </a:xfrm>
          </p:grpSpPr>
          <p:pic>
            <p:nvPicPr>
              <p:cNvPr id="413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942"/>
                <a:ext cx="3739305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sp>
            <p:nvSpPr>
              <p:cNvPr id="414" name="线条"/>
              <p:cNvSpPr/>
              <p:nvPr/>
            </p:nvSpPr>
            <p:spPr>
              <a:xfrm flipV="1">
                <a:off x="3999707" y="0"/>
                <a:ext cx="2" cy="66111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/>
              </a:p>
            </p:txBody>
          </p:sp>
          <p:pic>
            <p:nvPicPr>
              <p:cNvPr id="415" name="图像" descr="图像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1797" y="5942"/>
                <a:ext cx="2437284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</p:grpSp>
      </p:grpSp>
      <p:sp>
        <p:nvSpPr>
          <p:cNvPr id="418" name="New Product Release"/>
          <p:cNvSpPr txBox="1"/>
          <p:nvPr/>
        </p:nvSpPr>
        <p:spPr>
          <a:xfrm>
            <a:off x="21544739" y="419100"/>
            <a:ext cx="2624987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1690">
              <a:lnSpc>
                <a:spcPct val="120000"/>
              </a:lnSpc>
              <a:defRPr sz="2000">
                <a:solidFill>
                  <a:srgbClr val="A6AAA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419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E6636BC20180234D78A0072836F0BE2032B9B20C101A6B00A7D98F3EB10C2B7E2B41B138F16DDB0A22492308C8468DEB6F09218AB1D01B111BBFC20D702E26D324F262AD812666D7E4D42E776E524B9486B5EC517C6806C2A80E41915072DC78D9A62D910E3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1450</Words>
  <Application>Microsoft Macintosh PowerPoint</Application>
  <PresentationFormat>自定义</PresentationFormat>
  <Paragraphs>257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-apple-system</vt:lpstr>
      <vt:lpstr>Microsoft YaHei</vt:lpstr>
      <vt:lpstr>Arial</vt:lpstr>
      <vt:lpstr>Helvetica Light</vt:lpstr>
      <vt:lpstr>Helvetica Neue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Elena Y</cp:lastModifiedBy>
  <cp:revision>25</cp:revision>
  <dcterms:modified xsi:type="dcterms:W3CDTF">2026-09-09T02:16:41Z</dcterms:modified>
</cp:coreProperties>
</file>